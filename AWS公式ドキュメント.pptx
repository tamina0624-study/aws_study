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7189B-4B15-4185-B85F-0426A6483E8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9A9F-FF8B-49DE-92DB-32B22C27DE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746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09A9F-FF8B-49DE-92DB-32B22C27DE2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48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AEB7C-6DD3-A48C-93B5-D7993377E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706BE0-417F-845B-0487-5B3BF3C21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E1D9CE-8485-2F86-A632-12CB02E8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930711-CEA0-B255-3819-C1ACEE8E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897D-57E6-38B5-A88F-9FED5462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84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785E6-8E0C-2064-4BB0-30F0F694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09B0CC-17D4-E84B-1776-EBC5580B0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F2E980-5A5A-42FF-B3D0-5185918D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5337F5-1B5B-DDF2-B033-C23D47EA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6694FB-795B-6FD0-4213-66D4FB3F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17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C36E0-BA8D-0E96-A4D1-2791370A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7D022E-0F51-1E3B-D5D0-F3788798C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8E4357-BCB6-420E-6B0B-98F78EA9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8F9F11-2181-B466-CEE0-6BAC57E9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7C3D68-C000-268B-3590-EABF6790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23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4CFB56-9B6C-D17F-A054-9A9522E7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B5E2A1-4C29-5A98-2882-59E848EF6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C375C0-94AB-EF3E-1239-B5D03F7A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9F452B-030E-ACF8-4722-D5C2BEBE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D28CCF-C3CD-D589-169E-B10211D6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FA9001-5F7B-1FC2-0337-079EB8AB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25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C65CF-687F-302F-AF92-6CB40D7C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0D21FA-06B2-0D68-AF2B-34B3C4D2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B78715-C90E-9F78-B633-F54ED23B1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F23AC2-2D4A-DDEF-CDE4-591B5FB0D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8D2415-5026-29C9-ABE3-F7D19D1CD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44F6DE-BBFC-9E5A-A31C-9A04E34F4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107C42-032D-442C-967D-C5196D29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160E2E-7A82-4CB9-31DF-32E00E27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099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33F8E-E172-018A-E6C5-2377FB9C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6E60023-8EB2-09FB-92EE-9A2D77F92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2BE36D-56C6-372A-164D-53EACCEC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B7A4C0-F7A1-9EAD-6C70-13CB6E42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99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021ECC-4E8D-ADCE-F267-452AC771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A8473A-01E8-752B-D860-EDAE5B47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4AB9C3-609D-EC79-830F-80DC9166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64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B7B881-0C65-6F22-77F9-B98D123F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989027-E3D6-EB2B-CC0F-ADAC03767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D5E782-4C4B-70C4-470E-BC5BCBFA5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E46FF7-9728-3CE8-B644-83EC8235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AFD7F4-FE45-2C01-50BF-177A8BDF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572C34-71F3-22E6-E912-9424F68B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43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B3FE1D-1698-113D-8641-57D3F1FD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9E9E9E4-FD44-2022-0D5C-F66DFD0BA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725EF8-4E38-AC7B-FD23-BD9F07083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93472B-8A61-041D-42A9-8EEC42A1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3B3D68-F68D-A0FE-2460-9E137287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52F06E-6C15-A02D-45BD-B7798CEB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35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73183-6E64-04FB-34A3-33E62831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92BF8A-B4F3-66BC-058C-C73F371F7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C0215F-F8CE-0833-2CE2-734E39BC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C9D72A-217E-4EF6-90F1-00867495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FBE8E1-89A9-43B1-A04C-6EACE0FC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01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B0647E-D8E4-1F4F-7138-D5272188B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16D3E4-6704-38E7-C3D3-5DD10287A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1BDE04-8564-6802-BA22-1E903357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9ABABD-DD3D-4BFF-69C0-A255B834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980BAE-C513-7674-BB44-449C9CF3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78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4959B2-AE0C-8937-403C-53722731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7BC886-46AE-F88D-0A78-3583328CF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70EE7A-FE34-42DF-FE67-409394D6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F6587-7369-4A9C-B085-7BC7357DDC6E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BC7465-C056-0C30-2B5D-1886B4122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4478E2-F643-AEAA-8128-CBDB67B75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E023C-EA66-4706-B853-AD443D843F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3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" TargetMode="External"/><Relationship Id="rId2" Type="http://schemas.openxmlformats.org/officeDocument/2006/relationships/hyperlink" Target="https://developer.hashicorp.com/terraform/language/block/resource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ja_jp/AWSCloudFormation/latest/TemplateReference/aws-resource-elasticache-parametergroup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jp/product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dev.classmethod.jp/articles/20260617-amazon-bedrock-managed-knowledge-b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76FDBE-FCED-DD4F-A1AB-78C3017FA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　公式ドキュメントの追い方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E03C6C-188C-8DEF-C77A-DDEE14919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36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D9FCA-8979-DE5E-A95D-42D4B0A2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を扱う時に調べたくなるもの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403190-19E2-721D-6178-9AAB19869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AWS CLI</a:t>
            </a:r>
            <a:r>
              <a:rPr lang="ja-JP" altLang="en-US" dirty="0"/>
              <a:t>の調べ方</a:t>
            </a:r>
            <a:endParaRPr kumimoji="1" lang="en-US" altLang="ja-JP" dirty="0"/>
          </a:p>
          <a:p>
            <a:r>
              <a:rPr kumimoji="1" lang="en-US" altLang="ja-JP" dirty="0"/>
              <a:t>Terraform</a:t>
            </a:r>
            <a:r>
              <a:rPr kumimoji="1" lang="ja-JP" altLang="en-US" dirty="0"/>
              <a:t>の調べ方</a:t>
            </a:r>
            <a:endParaRPr kumimoji="1" lang="en-US" altLang="ja-JP" dirty="0"/>
          </a:p>
          <a:p>
            <a:r>
              <a:rPr kumimoji="1" lang="en-US" altLang="ja-JP" dirty="0"/>
              <a:t>CloudFormation</a:t>
            </a:r>
            <a:r>
              <a:rPr kumimoji="1" lang="ja-JP" altLang="en-US" dirty="0"/>
              <a:t>の調べ方</a:t>
            </a:r>
            <a:endParaRPr kumimoji="1" lang="en-US" altLang="ja-JP" dirty="0"/>
          </a:p>
          <a:p>
            <a:r>
              <a:rPr lang="en-US" altLang="ja-JP" dirty="0"/>
              <a:t>Service</a:t>
            </a:r>
            <a:r>
              <a:rPr lang="ja-JP" altLang="en-US" dirty="0"/>
              <a:t>の機能の調べ方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8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D0355D-EAC3-6371-4511-B3984794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　</a:t>
            </a:r>
            <a:r>
              <a:rPr kumimoji="1" lang="en-US" altLang="ja-JP" dirty="0"/>
              <a:t>CLI</a:t>
            </a:r>
            <a:r>
              <a:rPr kumimoji="1" lang="ja-JP" altLang="en-US" dirty="0"/>
              <a:t>の調べ方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6729812-3756-6F5D-3B6C-DB00235CD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39" y="1524433"/>
            <a:ext cx="6877387" cy="464472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BD96F5-1E41-6B76-AD97-513EF692053E}"/>
              </a:ext>
            </a:extLst>
          </p:cNvPr>
          <p:cNvSpPr/>
          <p:nvPr/>
        </p:nvSpPr>
        <p:spPr>
          <a:xfrm>
            <a:off x="2034333" y="2949998"/>
            <a:ext cx="1617044" cy="548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4C4BFB-EA7A-5182-AB36-62620E096864}"/>
              </a:ext>
            </a:extLst>
          </p:cNvPr>
          <p:cNvSpPr txBox="1"/>
          <p:nvPr/>
        </p:nvSpPr>
        <p:spPr>
          <a:xfrm>
            <a:off x="138546" y="2798618"/>
            <a:ext cx="1800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ここに</a:t>
            </a:r>
            <a:r>
              <a:rPr lang="en-US" altLang="ja-JP" dirty="0"/>
              <a:t>ec</a:t>
            </a:r>
            <a:r>
              <a:rPr kumimoji="1" lang="en-US" altLang="ja-JP" dirty="0"/>
              <a:t>2</a:t>
            </a:r>
            <a:r>
              <a:rPr kumimoji="1" lang="ja-JP" altLang="en-US" dirty="0"/>
              <a:t>とか</a:t>
            </a:r>
            <a:endParaRPr kumimoji="1" lang="en-US" altLang="ja-JP" dirty="0"/>
          </a:p>
          <a:p>
            <a:r>
              <a:rPr kumimoji="1" lang="ja-JP" altLang="en-US" dirty="0"/>
              <a:t>入力したら</a:t>
            </a:r>
            <a:endParaRPr kumimoji="1" lang="en-US" altLang="ja-JP" dirty="0"/>
          </a:p>
          <a:p>
            <a:r>
              <a:rPr lang="ja-JP" altLang="en-US" dirty="0"/>
              <a:t>関連コマンドが</a:t>
            </a:r>
            <a:endParaRPr lang="en-US" altLang="ja-JP" dirty="0"/>
          </a:p>
          <a:p>
            <a:r>
              <a:rPr lang="ja-JP" altLang="en-US" dirty="0"/>
              <a:t>検索できる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69563A-6922-B9DF-8308-A6A6DBB008D2}"/>
              </a:ext>
            </a:extLst>
          </p:cNvPr>
          <p:cNvSpPr txBox="1"/>
          <p:nvPr/>
        </p:nvSpPr>
        <p:spPr>
          <a:xfrm>
            <a:off x="1038792" y="6308209"/>
            <a:ext cx="8220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hlinkClick r:id="rId3"/>
              </a:rPr>
              <a:t>AWS CLI Command Reference — AWS CLI 2.35.14 Command Reference</a:t>
            </a:r>
            <a:endParaRPr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0CCEE45-F134-5528-ED3C-4B7D226A3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873" y="1962861"/>
            <a:ext cx="4412451" cy="376787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90773D-9915-5646-DCC2-81646C59CDCB}"/>
              </a:ext>
            </a:extLst>
          </p:cNvPr>
          <p:cNvSpPr txBox="1"/>
          <p:nvPr/>
        </p:nvSpPr>
        <p:spPr>
          <a:xfrm>
            <a:off x="8638032" y="1659902"/>
            <a:ext cx="3398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大体</a:t>
            </a:r>
            <a:r>
              <a:rPr lang="en-US" altLang="ja-JP" dirty="0"/>
              <a:t>Example</a:t>
            </a:r>
            <a:r>
              <a:rPr lang="ja-JP" altLang="en-US" dirty="0"/>
              <a:t>をみたら使い方が</a:t>
            </a:r>
            <a:endParaRPr lang="en-US" altLang="ja-JP" dirty="0"/>
          </a:p>
          <a:p>
            <a:r>
              <a:rPr lang="ja-JP" altLang="en-US" dirty="0"/>
              <a:t>分かりそう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4CC300-D376-4992-663B-213A616BDFC8}"/>
              </a:ext>
            </a:extLst>
          </p:cNvPr>
          <p:cNvSpPr txBox="1"/>
          <p:nvPr/>
        </p:nvSpPr>
        <p:spPr>
          <a:xfrm>
            <a:off x="8064708" y="623790"/>
            <a:ext cx="2654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必須</a:t>
            </a:r>
            <a:endParaRPr kumimoji="1" lang="en-US" altLang="ja-JP" dirty="0"/>
          </a:p>
          <a:p>
            <a:r>
              <a:rPr kumimoji="1" lang="en-US" altLang="ja-JP" dirty="0"/>
              <a:t>--output </a:t>
            </a:r>
            <a:r>
              <a:rPr kumimoji="1" lang="en-US" altLang="ja-JP" dirty="0" err="1"/>
              <a:t>json,text,table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710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2704EC-C3FD-43F5-7C23-90B0D4D3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めっちゃ便利ツールらしい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5C610-C202-17D2-11B0-7C65BDFFD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9" y="2248581"/>
            <a:ext cx="5370701" cy="411047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FC9E8A5-B185-F961-53C8-CFF20C8F6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10" y="2248581"/>
            <a:ext cx="5256416" cy="380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0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DEA78-0F4B-08E1-D85F-46623D3A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Terraform</a:t>
            </a:r>
            <a:r>
              <a:rPr lang="ja-JP" altLang="en-US" dirty="0"/>
              <a:t>の調べ方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52BB3E-9037-EBEA-67A2-318B917E1469}"/>
              </a:ext>
            </a:extLst>
          </p:cNvPr>
          <p:cNvSpPr txBox="1"/>
          <p:nvPr/>
        </p:nvSpPr>
        <p:spPr>
          <a:xfrm>
            <a:off x="838200" y="1690688"/>
            <a:ext cx="8802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2"/>
              </a:rPr>
              <a:t>基本的な</a:t>
            </a:r>
            <a:r>
              <a:rPr lang="en-US" altLang="ja-JP" dirty="0">
                <a:hlinkClick r:id="rId2"/>
              </a:rPr>
              <a:t>Terraform</a:t>
            </a:r>
            <a:r>
              <a:rPr lang="ja-JP" altLang="en-US" dirty="0">
                <a:hlinkClick r:id="rId2"/>
              </a:rPr>
              <a:t>の記法が書いてある</a:t>
            </a:r>
            <a:endParaRPr lang="en-US" altLang="ja-JP" dirty="0">
              <a:hlinkClick r:id="rId2"/>
            </a:endParaRPr>
          </a:p>
          <a:p>
            <a:endParaRPr lang="en-US" altLang="ja-JP" dirty="0">
              <a:hlinkClick r:id="rId2"/>
            </a:endParaRPr>
          </a:p>
          <a:p>
            <a:r>
              <a:rPr lang="ja-JP" altLang="ja-JP" dirty="0">
                <a:hlinkClick r:id="rId2"/>
              </a:rPr>
              <a:t>resource block reference | Terraform | HashiCorp Developer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5164B7-EC3C-564D-5DC3-EAEC379FE80C}"/>
              </a:ext>
            </a:extLst>
          </p:cNvPr>
          <p:cNvSpPr txBox="1"/>
          <p:nvPr/>
        </p:nvSpPr>
        <p:spPr>
          <a:xfrm>
            <a:off x="838200" y="4059317"/>
            <a:ext cx="8802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3"/>
              </a:rPr>
              <a:t>■モジュールごとの</a:t>
            </a:r>
            <a:r>
              <a:rPr lang="en-US" altLang="ja-JP" dirty="0">
                <a:hlinkClick r:id="rId3"/>
              </a:rPr>
              <a:t>Terraform</a:t>
            </a:r>
            <a:r>
              <a:rPr lang="ja-JP" altLang="en-US" dirty="0">
                <a:hlinkClick r:id="rId3"/>
              </a:rPr>
              <a:t>の書き方</a:t>
            </a:r>
            <a:endParaRPr lang="en-US" altLang="ja-JP" dirty="0">
              <a:hlinkClick r:id="rId3"/>
            </a:endParaRPr>
          </a:p>
          <a:p>
            <a:endParaRPr lang="en-US" altLang="ja-JP" dirty="0">
              <a:hlinkClick r:id="rId3"/>
            </a:endParaRPr>
          </a:p>
          <a:p>
            <a:r>
              <a:rPr lang="ja-JP" altLang="ja-JP" dirty="0">
                <a:hlinkClick r:id="rId3"/>
              </a:rPr>
              <a:t>Docs overview | hashicorp/aws | Terraform | Terraform Registry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4135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F524E-273E-2DC4-7476-90AC5B4C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具体的な探し方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9E2AFD-35E6-F20B-D4DA-3D212DDA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9807"/>
            <a:ext cx="6845771" cy="336152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7D19C2A-82E0-ADA4-D15D-7299E450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840" y="2589196"/>
            <a:ext cx="4636952" cy="212966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7B9F61-F67E-850E-30BE-246B2540038F}"/>
              </a:ext>
            </a:extLst>
          </p:cNvPr>
          <p:cNvSpPr txBox="1"/>
          <p:nvPr/>
        </p:nvSpPr>
        <p:spPr>
          <a:xfrm>
            <a:off x="760396" y="57751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検索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51AE25-34D8-577E-5A09-7F601EC64B23}"/>
              </a:ext>
            </a:extLst>
          </p:cNvPr>
          <p:cNvSpPr txBox="1"/>
          <p:nvPr/>
        </p:nvSpPr>
        <p:spPr>
          <a:xfrm>
            <a:off x="7486850" y="1955276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大体</a:t>
            </a:r>
            <a:r>
              <a:rPr kumimoji="1" lang="en-US" altLang="ja-JP" dirty="0"/>
              <a:t>Example</a:t>
            </a:r>
            <a:r>
              <a:rPr kumimoji="1" lang="ja-JP" altLang="en-US"/>
              <a:t>を見れば分かるはず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853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EEAD7-2625-0C12-4310-3C03FF71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cloudformation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4AEF24-B842-F217-A708-A539D3DCF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変更セット：</a:t>
            </a:r>
            <a:r>
              <a:rPr lang="ja-JP" altLang="ja-JP" dirty="0"/>
              <a:t>CloudFormationで作成されるAWSリソースのまとまりです。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スタック：</a:t>
            </a:r>
            <a:r>
              <a:rPr lang="ja-JP" altLang="ja-JP" dirty="0"/>
              <a:t>「何が変更されるのか」を事前確認する機能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スタックセット：</a:t>
            </a:r>
            <a:r>
              <a:rPr lang="ja-JP" altLang="ja-JP" dirty="0"/>
              <a:t>複数アカウント・複数リージョンへ一括展開する機能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699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A6C3A1-0F1A-4B0C-F332-4CA47196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cloudFormation</a:t>
            </a:r>
            <a:r>
              <a:rPr kumimoji="1" lang="ja-JP" altLang="en-US" dirty="0"/>
              <a:t>の調べ方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B2CFA4-CD47-8073-699A-A42E090A9AD3}"/>
              </a:ext>
            </a:extLst>
          </p:cNvPr>
          <p:cNvSpPr txBox="1"/>
          <p:nvPr/>
        </p:nvSpPr>
        <p:spPr>
          <a:xfrm>
            <a:off x="178633" y="182653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ja-JP" altLang="ja-JP" b="1" i="0" dirty="0">
                <a:solidFill>
                  <a:srgbClr val="0C0A09"/>
                </a:solidFill>
                <a:effectLst/>
                <a:latin typeface="Helvetica Neue"/>
              </a:rPr>
              <a:t>AWS CloudFormation User Guide</a:t>
            </a:r>
            <a:endParaRPr lang="en-US" altLang="ja-JP" b="1" i="0" dirty="0">
              <a:solidFill>
                <a:srgbClr val="0C0A09"/>
              </a:solidFill>
              <a:effectLst/>
              <a:latin typeface="Helvetica Neue"/>
            </a:endParaRPr>
          </a:p>
          <a:p>
            <a:r>
              <a:rPr lang="ja-JP" altLang="ja-JP" dirty="0">
                <a:hlinkClick r:id="rId2"/>
              </a:rPr>
              <a:t>AWS::ElastiCache::ParameterGroup - AWS CloudFormation</a:t>
            </a:r>
            <a:endParaRPr lang="ja-JP" altLang="en-US" dirty="0"/>
          </a:p>
          <a:p>
            <a:pPr algn="l"/>
            <a:endParaRPr lang="en-US" altLang="ja-JP" b="1" i="0" dirty="0">
              <a:solidFill>
                <a:srgbClr val="0C0A09"/>
              </a:solidFill>
              <a:effectLst/>
              <a:latin typeface="Helvetica Neue"/>
            </a:endParaRPr>
          </a:p>
          <a:p>
            <a:r>
              <a:rPr lang="ja-JP" altLang="ja-JP" dirty="0"/>
              <a:t>多くの方が利用している基本的なガイドライン</a:t>
            </a:r>
            <a:endParaRPr lang="en-US" altLang="ja-JP" dirty="0"/>
          </a:p>
          <a:p>
            <a:r>
              <a:rPr lang="ja-JP" altLang="ja-JP" dirty="0"/>
              <a:t>ただし冒頭でも触れたように、記述が不足していたり曖昧な部分があったりするため、</a:t>
            </a:r>
            <a:br>
              <a:rPr lang="ja-JP" altLang="ja-JP" dirty="0"/>
            </a:br>
            <a:r>
              <a:rPr lang="ja-JP" altLang="ja-JP" dirty="0"/>
              <a:t>複雑な設定を行おうとすると困難に直面することがあります。</a:t>
            </a:r>
            <a:endParaRPr lang="en-US" altLang="ja-JP" dirty="0"/>
          </a:p>
          <a:p>
            <a:pPr algn="l"/>
            <a:endParaRPr lang="en-US" altLang="ja-JP" b="1" i="0" dirty="0">
              <a:solidFill>
                <a:srgbClr val="0C0A09"/>
              </a:solidFill>
              <a:effectLst/>
              <a:latin typeface="Helvetica Neue"/>
            </a:endParaRPr>
          </a:p>
          <a:p>
            <a:pPr marL="342900" indent="-342900" algn="l">
              <a:buAutoNum type="arabicPeriod"/>
            </a:pPr>
            <a:r>
              <a:rPr lang="en-US" altLang="ja-JP" b="1" dirty="0">
                <a:solidFill>
                  <a:srgbClr val="0C0A09"/>
                </a:solidFill>
                <a:latin typeface="Helvetica Neue"/>
              </a:rPr>
              <a:t>AWS CLI</a:t>
            </a:r>
          </a:p>
          <a:p>
            <a:r>
              <a:rPr lang="ja-JP" altLang="en-US" dirty="0">
                <a:solidFill>
                  <a:srgbClr val="0C0A09"/>
                </a:solidFill>
                <a:latin typeface="Helvetica Neue"/>
              </a:rPr>
              <a:t>以下のコマンドで確認が出来る</a:t>
            </a:r>
            <a:endParaRPr lang="en-US" altLang="ja-JP" dirty="0">
              <a:solidFill>
                <a:srgbClr val="0C0A09"/>
              </a:solidFill>
              <a:latin typeface="Helvetica Neue"/>
            </a:endParaRPr>
          </a:p>
          <a:p>
            <a:r>
              <a:rPr lang="en-US" altLang="ja-JP" dirty="0" err="1">
                <a:solidFill>
                  <a:srgbClr val="0C0A09"/>
                </a:solidFill>
                <a:latin typeface="Helvetica Neue"/>
              </a:rPr>
              <a:t>aws</a:t>
            </a:r>
            <a:r>
              <a:rPr lang="en-US" altLang="ja-JP" dirty="0">
                <a:solidFill>
                  <a:srgbClr val="0C0A09"/>
                </a:solidFill>
                <a:latin typeface="Helvetica Neue"/>
              </a:rPr>
              <a:t> </a:t>
            </a:r>
            <a:r>
              <a:rPr lang="en-US" altLang="ja-JP" dirty="0" err="1">
                <a:solidFill>
                  <a:srgbClr val="0C0A09"/>
                </a:solidFill>
                <a:latin typeface="Helvetica Neue"/>
              </a:rPr>
              <a:t>cloudformation</a:t>
            </a:r>
            <a:r>
              <a:rPr lang="en-US" altLang="ja-JP" dirty="0">
                <a:solidFill>
                  <a:srgbClr val="0C0A09"/>
                </a:solidFill>
                <a:latin typeface="Helvetica Neue"/>
              </a:rPr>
              <a:t> describe-type `</a:t>
            </a:r>
          </a:p>
          <a:p>
            <a:r>
              <a:rPr lang="en-US" altLang="ja-JP" dirty="0">
                <a:solidFill>
                  <a:srgbClr val="0C0A09"/>
                </a:solidFill>
                <a:latin typeface="Helvetica Neue"/>
              </a:rPr>
              <a:t>  --type RESOURCE `</a:t>
            </a:r>
          </a:p>
          <a:p>
            <a:r>
              <a:rPr lang="en-US" altLang="ja-JP" dirty="0">
                <a:solidFill>
                  <a:srgbClr val="0C0A09"/>
                </a:solidFill>
                <a:latin typeface="Helvetica Neue"/>
              </a:rPr>
              <a:t>  --type-name AWS::</a:t>
            </a:r>
            <a:r>
              <a:rPr lang="en-US" altLang="ja-JP" dirty="0" err="1">
                <a:solidFill>
                  <a:srgbClr val="0C0A09"/>
                </a:solidFill>
                <a:latin typeface="Helvetica Neue"/>
              </a:rPr>
              <a:t>ElastiCache</a:t>
            </a:r>
            <a:r>
              <a:rPr lang="en-US" altLang="ja-JP" dirty="0">
                <a:solidFill>
                  <a:srgbClr val="0C0A09"/>
                </a:solidFill>
                <a:latin typeface="Helvetica Neue"/>
              </a:rPr>
              <a:t>::</a:t>
            </a:r>
            <a:r>
              <a:rPr lang="en-US" altLang="ja-JP" dirty="0" err="1">
                <a:solidFill>
                  <a:srgbClr val="0C0A09"/>
                </a:solidFill>
                <a:latin typeface="Helvetica Neue"/>
              </a:rPr>
              <a:t>ParameterGroup</a:t>
            </a:r>
            <a:endParaRPr lang="en-US" altLang="ja-JP" dirty="0">
              <a:solidFill>
                <a:srgbClr val="0C0A09"/>
              </a:solidFill>
              <a:latin typeface="Helvetica Neue"/>
            </a:endParaRPr>
          </a:p>
          <a:p>
            <a:endParaRPr lang="en-US" altLang="ja-JP" dirty="0">
              <a:solidFill>
                <a:srgbClr val="0C0A09"/>
              </a:solidFill>
              <a:latin typeface="Helvetica Neue"/>
            </a:endParaRPr>
          </a:p>
          <a:p>
            <a:pPr algn="l"/>
            <a:endParaRPr lang="en-US" altLang="ja-JP" b="1" dirty="0">
              <a:solidFill>
                <a:srgbClr val="0C0A09"/>
              </a:solidFill>
              <a:latin typeface="Helvetica Neue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868210-C6E7-E966-3BB3-48FC8CDF927A}"/>
              </a:ext>
            </a:extLst>
          </p:cNvPr>
          <p:cNvSpPr txBox="1"/>
          <p:nvPr/>
        </p:nvSpPr>
        <p:spPr>
          <a:xfrm>
            <a:off x="3226633" y="5789678"/>
            <a:ext cx="70716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0" i="0" dirty="0">
                <a:solidFill>
                  <a:srgbClr val="0C0A09"/>
                </a:solidFill>
                <a:effectLst/>
                <a:latin typeface="Helvetica Neue"/>
              </a:rPr>
              <a:t>ブラウザで仕様を確認したい場合はCloudFormationレジストリ、</a:t>
            </a:r>
            <a:br>
              <a:rPr lang="ja-JP" altLang="ja-JP" dirty="0"/>
            </a:br>
            <a:r>
              <a:rPr lang="ja-JP" altLang="ja-JP" b="0" i="0" dirty="0">
                <a:solidFill>
                  <a:srgbClr val="0C0A09"/>
                </a:solidFill>
                <a:effectLst/>
                <a:latin typeface="Helvetica Neue"/>
              </a:rPr>
              <a:t>エディター上で完結したい場合はAWS CLI、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0E576A-083F-0FA5-23D0-844226B62149}"/>
              </a:ext>
            </a:extLst>
          </p:cNvPr>
          <p:cNvSpPr txBox="1"/>
          <p:nvPr/>
        </p:nvSpPr>
        <p:spPr>
          <a:xfrm>
            <a:off x="5919867" y="1710107"/>
            <a:ext cx="6093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ja-JP" b="1" dirty="0">
              <a:solidFill>
                <a:srgbClr val="0C0A09"/>
              </a:solidFill>
              <a:latin typeface="Helvetica Neue"/>
            </a:endParaRPr>
          </a:p>
          <a:p>
            <a:pPr marL="342900" indent="-342900">
              <a:buFontTx/>
              <a:buAutoNum type="arabicPeriod"/>
            </a:pPr>
            <a:r>
              <a:rPr lang="ja-JP" altLang="ja-JP" b="1" dirty="0"/>
              <a:t>CloudFormation レジストリ</a:t>
            </a:r>
            <a:endParaRPr lang="en-US" altLang="ja-JP" b="1" dirty="0"/>
          </a:p>
          <a:p>
            <a:r>
              <a:rPr lang="ja-JP" altLang="ja-JP" dirty="0"/>
              <a:t>マネジメントコンソールから確認することができ、</a:t>
            </a:r>
            <a:br>
              <a:rPr lang="ja-JP" altLang="ja-JP" dirty="0"/>
            </a:br>
            <a:r>
              <a:rPr lang="ja-JP" altLang="ja-JP" dirty="0"/>
              <a:t>スキーマの内容はaws cloudformation describe-typeコマンドで出力される内容と同一です。</a:t>
            </a:r>
            <a:endParaRPr lang="en-US" altLang="ja-JP" b="1" dirty="0"/>
          </a:p>
          <a:p>
            <a:pPr marL="342900" indent="-342900">
              <a:buFontTx/>
              <a:buAutoNum type="arabicPeriod"/>
            </a:pPr>
            <a:endParaRPr lang="ja-JP" altLang="ja-JP" b="1" dirty="0"/>
          </a:p>
        </p:txBody>
      </p:sp>
    </p:spTree>
    <p:extLst>
      <p:ext uri="{BB962C8B-B14F-4D97-AF65-F5344CB8AC3E}">
        <p14:creationId xmlns:p14="http://schemas.microsoft.com/office/powerpoint/2010/main" val="323459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1DE7-33F7-0983-28C9-6D057F6E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5F7108-603B-4078-ADD1-6B59B17C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cloudFormation</a:t>
            </a:r>
            <a:r>
              <a:rPr kumimoji="1" lang="ja-JP" altLang="en-US" dirty="0"/>
              <a:t>の調べ方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0C0C03-7D49-AA79-1D6A-37678B811312}"/>
              </a:ext>
            </a:extLst>
          </p:cNvPr>
          <p:cNvSpPr txBox="1"/>
          <p:nvPr/>
        </p:nvSpPr>
        <p:spPr>
          <a:xfrm>
            <a:off x="514232" y="1690688"/>
            <a:ext cx="6093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ja-JP" altLang="ja-JP" b="1" dirty="0"/>
              <a:t>API リファレンス</a:t>
            </a:r>
            <a:endParaRPr lang="en-US" altLang="ja-JP" b="1" dirty="0"/>
          </a:p>
          <a:p>
            <a:r>
              <a:rPr lang="ja-JP" altLang="ja-JP" dirty="0"/>
              <a:t>APIリファレンスはサービスごとにページが分かれており、</a:t>
            </a:r>
            <a:br>
              <a:rPr lang="ja-JP" altLang="ja-JP" dirty="0"/>
            </a:br>
            <a:r>
              <a:rPr lang="ja-JP" altLang="ja-JP" dirty="0"/>
              <a:t>以下のドキュメントのトップページ → 各サービス → API Reference と進むと辿り着けます。</a:t>
            </a:r>
            <a:endParaRPr lang="ja-JP" altLang="ja-JP" b="1" dirty="0"/>
          </a:p>
          <a:p>
            <a:pPr marL="342900" indent="-342900" algn="l">
              <a:buAutoNum type="arabicPeriod"/>
            </a:pPr>
            <a:endParaRPr lang="ja-JP" altLang="ja-JP" b="1" i="0" dirty="0">
              <a:solidFill>
                <a:srgbClr val="0C0A09"/>
              </a:solidFill>
              <a:effectLst/>
              <a:latin typeface="Helvetica Neue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BC09792-0CA6-AE8F-FF21-816DC551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51" y="1494142"/>
            <a:ext cx="4287617" cy="499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1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87BA2-FDE5-0FC4-D63E-32476E33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サービスの機能の調べ方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6C9ED3-656D-232F-79C5-A3B9F2AAE7F3}"/>
              </a:ext>
            </a:extLst>
          </p:cNvPr>
          <p:cNvSpPr txBox="1"/>
          <p:nvPr/>
        </p:nvSpPr>
        <p:spPr>
          <a:xfrm>
            <a:off x="838199" y="1690688"/>
            <a:ext cx="96399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>
                <a:hlinkClick r:id="rId3"/>
              </a:rPr>
              <a:t>クラウドサービス – 安全に構築してスケールする – AWS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概要だけでは分かりにくいけど、ハンズオンや機能を確認すると意外と分かってくるかも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ja-JP" dirty="0">
                <a:hlinkClick r:id="rId4"/>
              </a:rPr>
              <a:t>[新サービス] Amazon Bedrock Managed Knowledge Base フルマネージド RAG サービス が一般提供開始（GA） | DevelopersIO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クラスメソッドさんが詳しく特集するので、そっちを見るのが近道っぽい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4994423-9A34-327F-C245-A3A2F6F6E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86225"/>
            <a:ext cx="7360920" cy="27717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51201B-1F8A-D875-E6DA-5B4DF2E9E5BA}"/>
              </a:ext>
            </a:extLst>
          </p:cNvPr>
          <p:cNvSpPr txBox="1"/>
          <p:nvPr/>
        </p:nvSpPr>
        <p:spPr>
          <a:xfrm>
            <a:off x="7909560" y="4323079"/>
            <a:ext cx="37725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0" i="0" dirty="0">
                <a:solidFill>
                  <a:srgbClr val="333333"/>
                </a:solidFill>
                <a:effectLst/>
                <a:latin typeface="Meiryo" panose="020B0604030504040204" pitchFamily="50" charset="-128"/>
                <a:ea typeface="Meiryo" panose="020B0604030504040204" pitchFamily="50" charset="-128"/>
              </a:rPr>
              <a:t>AWS black belt &lt;サービス名&gt;</a:t>
            </a:r>
            <a:endParaRPr lang="en-US" altLang="ja-JP" b="0" i="0" dirty="0">
              <a:solidFill>
                <a:srgbClr val="333333"/>
              </a:solidFill>
              <a:effectLst/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endParaRPr lang="en-US" altLang="ja-JP" dirty="0">
              <a:solidFill>
                <a:srgbClr val="333333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lang="ja-JP" altLang="en-US" dirty="0">
                <a:solidFill>
                  <a:srgbClr val="333333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で</a:t>
            </a:r>
            <a:r>
              <a:rPr lang="en-US" altLang="ja-JP" dirty="0">
                <a:solidFill>
                  <a:srgbClr val="333333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AWS</a:t>
            </a:r>
            <a:r>
              <a:rPr lang="ja-JP" altLang="en-US" dirty="0">
                <a:solidFill>
                  <a:srgbClr val="333333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さんがまとめた分かりやすいパワポがあるらしい</a:t>
            </a:r>
            <a:endParaRPr lang="en-US" altLang="ja-JP" dirty="0">
              <a:solidFill>
                <a:srgbClr val="333333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lang="ja-JP" altLang="en-US" dirty="0">
                <a:solidFill>
                  <a:srgbClr val="333333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こっちは使い方が詳しく書かれていそうな雰囲気</a:t>
            </a:r>
            <a:endParaRPr lang="en-US" altLang="ja-JP" dirty="0">
              <a:solidFill>
                <a:srgbClr val="333333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079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430</Words>
  <PresentationFormat>ワイド画面</PresentationFormat>
  <Paragraphs>64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Helvetica Neue</vt:lpstr>
      <vt:lpstr>Meiryo</vt:lpstr>
      <vt:lpstr>游ゴシック</vt:lpstr>
      <vt:lpstr>游ゴシック Light</vt:lpstr>
      <vt:lpstr>Arial</vt:lpstr>
      <vt:lpstr>Office テーマ</vt:lpstr>
      <vt:lpstr>AWS　公式ドキュメントの追い方</vt:lpstr>
      <vt:lpstr>AWSを扱う時に調べたくなるもの</vt:lpstr>
      <vt:lpstr>AWS　CLIの調べ方</vt:lpstr>
      <vt:lpstr>めっちゃ便利ツールらしい</vt:lpstr>
      <vt:lpstr>Terraformの調べ方</vt:lpstr>
      <vt:lpstr>具体的な探し方</vt:lpstr>
      <vt:lpstr>cloudformation</vt:lpstr>
      <vt:lpstr>cloudFormationの調べ方</vt:lpstr>
      <vt:lpstr>cloudFormationの調べ方</vt:lpstr>
      <vt:lpstr>サービスの機能の調べ方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2026-07-02T12:12:36Z</dcterms:created>
  <dcterms:modified xsi:type="dcterms:W3CDTF">2026-07-06T09:29:43Z</dcterms:modified>
</cp:coreProperties>
</file>